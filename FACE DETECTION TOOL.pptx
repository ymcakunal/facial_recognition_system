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oboto"/>
      <p:regular r:id="rId22"/>
      <p:bold r:id="rId23"/>
      <p:italic r:id="rId24"/>
      <p:boldItalic r:id="rId25"/>
    </p:embeddedFont>
    <p:embeddedFont>
      <p:font typeface="Merriweather"/>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regular.fntdata"/><Relationship Id="rId21" Type="http://schemas.openxmlformats.org/officeDocument/2006/relationships/slide" Target="slides/slide16.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erriweather-regular.fntdata"/><Relationship Id="rId25" Type="http://schemas.openxmlformats.org/officeDocument/2006/relationships/font" Target="fonts/Roboto-boldItalic.fntdata"/><Relationship Id="rId28" Type="http://schemas.openxmlformats.org/officeDocument/2006/relationships/font" Target="fonts/Merriweather-italic.fntdata"/><Relationship Id="rId27" Type="http://schemas.openxmlformats.org/officeDocument/2006/relationships/font" Target="fonts/Merriweather-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erriweather-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910102a3ae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910102a3ae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910102a3ae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910102a3ae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910102a3ae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910102a3ae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910102a3ae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910102a3ae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910102a3ae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910102a3ae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910102a3ae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910102a3ae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910102a3ae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910102a3ae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910102a3ae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910102a3ae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910102a3ae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910102a3ae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910102a3ae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910102a3ae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910102a3ae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910102a3ae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910102a3ae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910102a3ae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910102a3ae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910102a3ae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910102a3ae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910102a3ae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910102a3ae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910102a3ae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latin typeface="Times New Roman"/>
                <a:ea typeface="Times New Roman"/>
                <a:cs typeface="Times New Roman"/>
                <a:sym typeface="Times New Roman"/>
              </a:rPr>
              <a:t>Face Recognition Tool for Social Network Analysis</a:t>
            </a:r>
            <a:endParaRPr sz="1800">
              <a:latin typeface="Times New Roman"/>
              <a:ea typeface="Times New Roman"/>
              <a:cs typeface="Times New Roman"/>
              <a:sym typeface="Times New Roman"/>
            </a:endParaRPr>
          </a:p>
        </p:txBody>
      </p:sp>
      <p:sp>
        <p:nvSpPr>
          <p:cNvPr id="65" name="Google Shape;65;p13"/>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To Harsh panchal sir </a:t>
            </a:r>
            <a:endParaRPr/>
          </a:p>
          <a:p>
            <a:pPr indent="0" lvl="0" marL="0" rtl="0" algn="l">
              <a:spcBef>
                <a:spcPts val="0"/>
              </a:spcBef>
              <a:spcAft>
                <a:spcPts val="0"/>
              </a:spcAft>
              <a:buNone/>
            </a:pPr>
            <a:r>
              <a:rPr lang="en"/>
              <a:t>By: Kunal (Msc Cyber security)</a:t>
            </a:r>
            <a:endParaRPr/>
          </a:p>
          <a:p>
            <a:pPr indent="0" lvl="0" marL="0" rtl="0" algn="l">
              <a:spcBef>
                <a:spcPts val="0"/>
              </a:spcBef>
              <a:spcAft>
                <a:spcPts val="0"/>
              </a:spcAft>
              <a:buNone/>
            </a:pPr>
            <a:r>
              <a:rPr lang="en"/>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Introduction</a:t>
            </a:r>
            <a:endParaRPr/>
          </a:p>
        </p:txBody>
      </p:sp>
      <p:sp>
        <p:nvSpPr>
          <p:cNvPr id="71" name="Google Shape;71;p1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Welcome to the presentation on "Face Recognition Tool for Social Network Analysis."</a:t>
            </a:r>
            <a:endParaRPr/>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en"/>
              <a:t>In this presentation, we will introduce a tool that can analyze videos to identify faces, which can be valuable for social network analysis.</a:t>
            </a:r>
            <a:endParaRPr/>
          </a:p>
          <a:p>
            <a:pPr indent="0" lvl="0" marL="45720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25" y="500925"/>
            <a:ext cx="3549600" cy="4325700"/>
          </a:xfrm>
          <a:prstGeom prst="rect">
            <a:avLst/>
          </a:prstGeom>
        </p:spPr>
        <p:txBody>
          <a:bodyPr anchorCtr="0" anchor="t" bIns="91425" lIns="91425" spcFirstLastPara="1" rIns="91425" wrap="square" tIns="91425">
            <a:noAutofit/>
          </a:bodyPr>
          <a:lstStyle/>
          <a:p>
            <a:pPr indent="-306070" lvl="0" marL="457200" rtl="0" algn="l">
              <a:lnSpc>
                <a:spcPct val="150000"/>
              </a:lnSpc>
              <a:spcBef>
                <a:spcPts val="0"/>
              </a:spcBef>
              <a:spcAft>
                <a:spcPts val="0"/>
              </a:spcAft>
              <a:buSzPts val="1220"/>
              <a:buChar char="●"/>
            </a:pPr>
            <a:r>
              <a:rPr lang="en" sz="1220"/>
              <a:t>AGENDA</a:t>
            </a:r>
            <a:endParaRPr sz="1220"/>
          </a:p>
          <a:p>
            <a:pPr indent="-306070" lvl="0" marL="457200" rtl="0" algn="l">
              <a:lnSpc>
                <a:spcPct val="150000"/>
              </a:lnSpc>
              <a:spcBef>
                <a:spcPts val="0"/>
              </a:spcBef>
              <a:spcAft>
                <a:spcPts val="0"/>
              </a:spcAft>
              <a:buSzPts val="1220"/>
              <a:buChar char="●"/>
            </a:pPr>
            <a:r>
              <a:rPr lang="en" sz="1220"/>
              <a:t>Introduction</a:t>
            </a:r>
            <a:endParaRPr sz="1220"/>
          </a:p>
          <a:p>
            <a:pPr indent="-306070" lvl="0" marL="457200" rtl="0" algn="l">
              <a:lnSpc>
                <a:spcPct val="150000"/>
              </a:lnSpc>
              <a:spcBef>
                <a:spcPts val="0"/>
              </a:spcBef>
              <a:spcAft>
                <a:spcPts val="0"/>
              </a:spcAft>
              <a:buSzPts val="1220"/>
              <a:buChar char="●"/>
            </a:pPr>
            <a:r>
              <a:rPr lang="en" sz="1220"/>
              <a:t>Technologies Used</a:t>
            </a:r>
            <a:endParaRPr sz="1220"/>
          </a:p>
          <a:p>
            <a:pPr indent="-306070" lvl="0" marL="457200" rtl="0" algn="l">
              <a:lnSpc>
                <a:spcPct val="150000"/>
              </a:lnSpc>
              <a:spcBef>
                <a:spcPts val="0"/>
              </a:spcBef>
              <a:spcAft>
                <a:spcPts val="0"/>
              </a:spcAft>
              <a:buSzPts val="1220"/>
              <a:buChar char="●"/>
            </a:pPr>
            <a:r>
              <a:rPr lang="en" sz="1220"/>
              <a:t>User Interface</a:t>
            </a:r>
            <a:endParaRPr sz="1220"/>
          </a:p>
          <a:p>
            <a:pPr indent="-306070" lvl="0" marL="457200" rtl="0" algn="l">
              <a:lnSpc>
                <a:spcPct val="150000"/>
              </a:lnSpc>
              <a:spcBef>
                <a:spcPts val="0"/>
              </a:spcBef>
              <a:spcAft>
                <a:spcPts val="0"/>
              </a:spcAft>
              <a:buSzPts val="1220"/>
              <a:buChar char="●"/>
            </a:pPr>
            <a:r>
              <a:rPr lang="en" sz="1220"/>
              <a:t>Tool Workflow</a:t>
            </a:r>
            <a:endParaRPr sz="1220"/>
          </a:p>
          <a:p>
            <a:pPr indent="-306070" lvl="0" marL="457200" rtl="0" algn="l">
              <a:lnSpc>
                <a:spcPct val="150000"/>
              </a:lnSpc>
              <a:spcBef>
                <a:spcPts val="0"/>
              </a:spcBef>
              <a:spcAft>
                <a:spcPts val="0"/>
              </a:spcAft>
              <a:buSzPts val="1220"/>
              <a:buChar char="●"/>
            </a:pPr>
            <a:r>
              <a:rPr lang="en" sz="1220"/>
              <a:t>Face Detection</a:t>
            </a:r>
            <a:endParaRPr sz="1220"/>
          </a:p>
          <a:p>
            <a:pPr indent="-306070" lvl="0" marL="457200" rtl="0" algn="l">
              <a:lnSpc>
                <a:spcPct val="150000"/>
              </a:lnSpc>
              <a:spcBef>
                <a:spcPts val="0"/>
              </a:spcBef>
              <a:spcAft>
                <a:spcPts val="0"/>
              </a:spcAft>
              <a:buSzPts val="1220"/>
              <a:buChar char="●"/>
            </a:pPr>
            <a:r>
              <a:rPr lang="en" sz="1220"/>
              <a:t>Known Faces</a:t>
            </a:r>
            <a:endParaRPr sz="1220"/>
          </a:p>
          <a:p>
            <a:pPr indent="-306070" lvl="0" marL="457200" rtl="0" algn="l">
              <a:lnSpc>
                <a:spcPct val="150000"/>
              </a:lnSpc>
              <a:spcBef>
                <a:spcPts val="0"/>
              </a:spcBef>
              <a:spcAft>
                <a:spcPts val="0"/>
              </a:spcAft>
              <a:buSzPts val="1220"/>
              <a:buChar char="●"/>
            </a:pPr>
            <a:r>
              <a:rPr lang="en" sz="1220"/>
              <a:t>PDF Report</a:t>
            </a:r>
            <a:endParaRPr sz="1220"/>
          </a:p>
          <a:p>
            <a:pPr indent="-306070" lvl="0" marL="457200" rtl="0" algn="l">
              <a:lnSpc>
                <a:spcPct val="150000"/>
              </a:lnSpc>
              <a:spcBef>
                <a:spcPts val="0"/>
              </a:spcBef>
              <a:spcAft>
                <a:spcPts val="0"/>
              </a:spcAft>
              <a:buSzPts val="1220"/>
              <a:buChar char="●"/>
            </a:pPr>
            <a:r>
              <a:rPr lang="en" sz="1220"/>
              <a:t>Results</a:t>
            </a:r>
            <a:endParaRPr sz="1220"/>
          </a:p>
          <a:p>
            <a:pPr indent="-306070" lvl="0" marL="457200" rtl="0" algn="l">
              <a:lnSpc>
                <a:spcPct val="150000"/>
              </a:lnSpc>
              <a:spcBef>
                <a:spcPts val="0"/>
              </a:spcBef>
              <a:spcAft>
                <a:spcPts val="0"/>
              </a:spcAft>
              <a:buSzPts val="1220"/>
              <a:buChar char="●"/>
            </a:pPr>
            <a:r>
              <a:rPr lang="en" sz="1220"/>
              <a:t>Saving the Report</a:t>
            </a:r>
            <a:endParaRPr sz="1220"/>
          </a:p>
          <a:p>
            <a:pPr indent="-306070" lvl="0" marL="457200" rtl="0" algn="l">
              <a:lnSpc>
                <a:spcPct val="150000"/>
              </a:lnSpc>
              <a:spcBef>
                <a:spcPts val="0"/>
              </a:spcBef>
              <a:spcAft>
                <a:spcPts val="0"/>
              </a:spcAft>
              <a:buSzPts val="1220"/>
              <a:buChar char="●"/>
            </a:pPr>
            <a:r>
              <a:rPr lang="en" sz="1220"/>
              <a:t>Demonstration</a:t>
            </a:r>
            <a:endParaRPr sz="1220"/>
          </a:p>
          <a:p>
            <a:pPr indent="-306070" lvl="0" marL="457200" rtl="0" algn="l">
              <a:lnSpc>
                <a:spcPct val="150000"/>
              </a:lnSpc>
              <a:spcBef>
                <a:spcPts val="0"/>
              </a:spcBef>
              <a:spcAft>
                <a:spcPts val="0"/>
              </a:spcAft>
              <a:buSzPts val="1220"/>
              <a:buChar char="●"/>
            </a:pPr>
            <a:r>
              <a:rPr lang="en" sz="1220"/>
              <a:t>Conclusion</a:t>
            </a:r>
            <a:endParaRPr sz="1220"/>
          </a:p>
          <a:p>
            <a:pPr indent="-306070" lvl="0" marL="457200" rtl="0" algn="l">
              <a:lnSpc>
                <a:spcPct val="150000"/>
              </a:lnSpc>
              <a:spcBef>
                <a:spcPts val="0"/>
              </a:spcBef>
              <a:spcAft>
                <a:spcPts val="0"/>
              </a:spcAft>
              <a:buSzPts val="1220"/>
              <a:buChar char="●"/>
            </a:pPr>
            <a:r>
              <a:rPr lang="en" sz="1220"/>
              <a:t>Future Work</a:t>
            </a:r>
            <a:endParaRPr sz="1220"/>
          </a:p>
          <a:p>
            <a:pPr indent="-306070" lvl="0" marL="457200" rtl="0" algn="l">
              <a:lnSpc>
                <a:spcPct val="150000"/>
              </a:lnSpc>
              <a:spcBef>
                <a:spcPts val="0"/>
              </a:spcBef>
              <a:spcAft>
                <a:spcPts val="0"/>
              </a:spcAft>
              <a:buSzPts val="1220"/>
              <a:buChar char="●"/>
            </a:pPr>
            <a:r>
              <a:rPr lang="en" sz="1220"/>
              <a:t>Questions</a:t>
            </a:r>
            <a:endParaRPr sz="1220"/>
          </a:p>
          <a:p>
            <a:pPr indent="-306070" lvl="0" marL="457200" rtl="0" algn="l">
              <a:lnSpc>
                <a:spcPct val="150000"/>
              </a:lnSpc>
              <a:spcBef>
                <a:spcPts val="0"/>
              </a:spcBef>
              <a:spcAft>
                <a:spcPts val="0"/>
              </a:spcAft>
              <a:buSzPts val="1220"/>
              <a:buChar char="●"/>
            </a:pPr>
            <a:r>
              <a:rPr lang="en" sz="1220"/>
              <a:t>Thank You</a:t>
            </a:r>
            <a:endParaRPr sz="100"/>
          </a:p>
        </p:txBody>
      </p:sp>
      <p:sp>
        <p:nvSpPr>
          <p:cNvPr id="77" name="Google Shape;77;p15"/>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11725" y="500925"/>
            <a:ext cx="3977100" cy="459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200"/>
              <a:t>For Law Enforcement Agencies: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Investigations: Law enforcement agencies can use the tool to aid in criminal investigations. It can help identify suspects, persons of interest, or witnesses in video evidence, facilitating the process of solving crimes.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Surveillance: The tool can be integrated into surveillance systems to monitor public spaces, events, and gatherings. Law enforcement can track and identify individuals of interest in real-time or from recorded video footage.</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Access Control: It can be employed for access control and security applications. For example, it can verify the identity of individuals entering secure facilities or controlled areas by comparing faces to a database of authorized personnel.</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Data Collection: In cases involving criminal networks or organized crime, the tool can assist in data collection by tracking individuals and their associations, aiding in the identification of key figures and networks.</a:t>
            </a:r>
            <a:endParaRPr sz="1200"/>
          </a:p>
          <a:p>
            <a:pPr indent="0" lvl="0" marL="0" rtl="0" algn="l">
              <a:spcBef>
                <a:spcPts val="0"/>
              </a:spcBef>
              <a:spcAft>
                <a:spcPts val="0"/>
              </a:spcAft>
              <a:buNone/>
            </a:pPr>
            <a:r>
              <a:rPr lang="en" sz="1200"/>
              <a:t>accidents.</a:t>
            </a:r>
            <a:endParaRPr sz="1200"/>
          </a:p>
          <a:p>
            <a:pPr indent="0" lvl="0" marL="0" rtl="0" algn="l">
              <a:spcBef>
                <a:spcPts val="0"/>
              </a:spcBef>
              <a:spcAft>
                <a:spcPts val="0"/>
              </a:spcAft>
              <a:buNone/>
            </a:pPr>
            <a:r>
              <a:t/>
            </a:r>
            <a:endParaRPr sz="1200"/>
          </a:p>
        </p:txBody>
      </p:sp>
      <p:sp>
        <p:nvSpPr>
          <p:cNvPr id="83" name="Google Shape;83;p16"/>
          <p:cNvSpPr txBox="1"/>
          <p:nvPr>
            <p:ph idx="1" type="body"/>
          </p:nvPr>
        </p:nvSpPr>
        <p:spPr>
          <a:xfrm>
            <a:off x="4644675" y="500925"/>
            <a:ext cx="4166400" cy="4098600"/>
          </a:xfrm>
          <a:prstGeom prst="rect">
            <a:avLst/>
          </a:prstGeom>
        </p:spPr>
        <p:txBody>
          <a:bodyPr anchorCtr="0" anchor="t" bIns="91425" lIns="91425" spcFirstLastPara="1" rIns="91425" wrap="square" tIns="91425">
            <a:normAutofit fontScale="85000" lnSpcReduction="20000"/>
          </a:bodyPr>
          <a:lstStyle/>
          <a:p>
            <a:pPr indent="-298767" lvl="0" marL="457200" rtl="0" algn="l">
              <a:lnSpc>
                <a:spcPct val="100000"/>
              </a:lnSpc>
              <a:spcBef>
                <a:spcPts val="0"/>
              </a:spcBef>
              <a:spcAft>
                <a:spcPts val="0"/>
              </a:spcAft>
              <a:buSzPct val="100000"/>
              <a:buChar char="●"/>
            </a:pPr>
            <a:r>
              <a:rPr lang="en"/>
              <a:t>For Social Network Analysis (SNA):</a:t>
            </a:r>
            <a:endParaRPr/>
          </a:p>
          <a:p>
            <a:pPr indent="0" lvl="0" marL="0" rtl="0" algn="l">
              <a:lnSpc>
                <a:spcPct val="100000"/>
              </a:lnSpc>
              <a:spcBef>
                <a:spcPts val="1200"/>
              </a:spcBef>
              <a:spcAft>
                <a:spcPts val="0"/>
              </a:spcAft>
              <a:buNone/>
            </a:pPr>
            <a:r>
              <a:t/>
            </a:r>
            <a:endParaRPr/>
          </a:p>
          <a:p>
            <a:pPr indent="-298767" lvl="0" marL="457200" rtl="0" algn="l">
              <a:lnSpc>
                <a:spcPct val="100000"/>
              </a:lnSpc>
              <a:spcBef>
                <a:spcPts val="1200"/>
              </a:spcBef>
              <a:spcAft>
                <a:spcPts val="0"/>
              </a:spcAft>
              <a:buSzPct val="100000"/>
              <a:buChar char="●"/>
            </a:pPr>
            <a:r>
              <a:rPr lang="en"/>
              <a:t>User Profiling: The tool can assist in creating comprehensive user profiles by recognizing individuals in social media content. This is invaluable for SNA because it helps in understanding the composition of social networks, identifying key participants, and assessing their influence.</a:t>
            </a:r>
            <a:endParaRPr/>
          </a:p>
          <a:p>
            <a:pPr indent="0" lvl="0" marL="457200" rtl="0" algn="l">
              <a:lnSpc>
                <a:spcPct val="100000"/>
              </a:lnSpc>
              <a:spcBef>
                <a:spcPts val="1200"/>
              </a:spcBef>
              <a:spcAft>
                <a:spcPts val="0"/>
              </a:spcAft>
              <a:buNone/>
            </a:pPr>
            <a:r>
              <a:t/>
            </a:r>
            <a:endParaRPr/>
          </a:p>
          <a:p>
            <a:pPr indent="-298767" lvl="0" marL="457200" rtl="0" algn="l">
              <a:lnSpc>
                <a:spcPct val="100000"/>
              </a:lnSpc>
              <a:spcBef>
                <a:spcPts val="1200"/>
              </a:spcBef>
              <a:spcAft>
                <a:spcPts val="0"/>
              </a:spcAft>
              <a:buSzPct val="100000"/>
              <a:buChar char="●"/>
            </a:pPr>
            <a:r>
              <a:rPr lang="en"/>
              <a:t>Behavior Analysis: By tracking faces in videos, SNA researchers can gain insights into user behaviors, interactions, and sentiments. For example, it can be used to study how individuals respond to content or to identify trends in user interactions within a network.</a:t>
            </a:r>
            <a:endParaRPr/>
          </a:p>
          <a:p>
            <a:pPr indent="0" lvl="0" marL="457200" rtl="0" algn="l">
              <a:lnSpc>
                <a:spcPct val="100000"/>
              </a:lnSpc>
              <a:spcBef>
                <a:spcPts val="1200"/>
              </a:spcBef>
              <a:spcAft>
                <a:spcPts val="0"/>
              </a:spcAft>
              <a:buNone/>
            </a:pPr>
            <a:r>
              <a:t/>
            </a:r>
            <a:endParaRPr/>
          </a:p>
          <a:p>
            <a:pPr indent="-298767" lvl="0" marL="457200" rtl="0" algn="l">
              <a:lnSpc>
                <a:spcPct val="100000"/>
              </a:lnSpc>
              <a:spcBef>
                <a:spcPts val="1200"/>
              </a:spcBef>
              <a:spcAft>
                <a:spcPts val="0"/>
              </a:spcAft>
              <a:buSzPct val="100000"/>
              <a:buChar char="●"/>
            </a:pPr>
            <a:r>
              <a:rPr lang="en"/>
              <a:t>Influencer Identification: Identifying and recognizing key individuals or influencers in social networks is a crucial aspect of SNA. The tool can help in automatically identifying and tracking these influential figures, allowing for targeted analysis and engagement strategies.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Technologies Used</a:t>
            </a:r>
            <a:endParaRPr/>
          </a:p>
        </p:txBody>
      </p:sp>
      <p:sp>
        <p:nvSpPr>
          <p:cNvPr id="89" name="Google Shape;89;p17"/>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Our tool is built using a combination of powerful technologies and libraries, including:</a:t>
            </a:r>
            <a:endParaRPr/>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en"/>
              <a:t>PyQt5 for the graphical user interface.</a:t>
            </a:r>
            <a:endParaRPr/>
          </a:p>
          <a:p>
            <a:pPr indent="-311150" lvl="0" marL="457200" rtl="0" algn="l">
              <a:spcBef>
                <a:spcPts val="0"/>
              </a:spcBef>
              <a:spcAft>
                <a:spcPts val="0"/>
              </a:spcAft>
              <a:buSzPts val="1300"/>
              <a:buChar char="●"/>
            </a:pPr>
            <a:r>
              <a:rPr lang="en"/>
              <a:t>OpenCV for video processing.</a:t>
            </a:r>
            <a:endParaRPr/>
          </a:p>
          <a:p>
            <a:pPr indent="-311150" lvl="0" marL="457200" rtl="0" algn="l">
              <a:spcBef>
                <a:spcPts val="0"/>
              </a:spcBef>
              <a:spcAft>
                <a:spcPts val="0"/>
              </a:spcAft>
              <a:buSzPts val="1300"/>
              <a:buChar char="●"/>
            </a:pPr>
            <a:r>
              <a:rPr lang="en"/>
              <a:t>face_recognition for face detection and recognition.</a:t>
            </a:r>
            <a:endParaRPr/>
          </a:p>
          <a:p>
            <a:pPr indent="-311150" lvl="0" marL="457200" rtl="0" algn="l">
              <a:spcBef>
                <a:spcPts val="0"/>
              </a:spcBef>
              <a:spcAft>
                <a:spcPts val="0"/>
              </a:spcAft>
              <a:buSzPts val="1300"/>
              <a:buChar char="●"/>
            </a:pPr>
            <a:r>
              <a:rPr lang="en"/>
              <a:t>ReportLab for generating PDF reports.</a:t>
            </a:r>
            <a:endParaRPr/>
          </a:p>
          <a:p>
            <a:pPr indent="0" lvl="0" marL="45720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User Interface</a:t>
            </a:r>
            <a:endParaRPr/>
          </a:p>
        </p:txBody>
      </p:sp>
      <p:sp>
        <p:nvSpPr>
          <p:cNvPr id="95" name="Google Shape;95;p18"/>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The user interface is designed for simplicity and ease of use.</a:t>
            </a:r>
            <a:endParaRPr/>
          </a:p>
          <a:p>
            <a:pPr indent="-311150" lvl="0" marL="457200" rtl="0" algn="l">
              <a:spcBef>
                <a:spcPts val="0"/>
              </a:spcBef>
              <a:spcAft>
                <a:spcPts val="0"/>
              </a:spcAft>
              <a:buSzPts val="1300"/>
              <a:buChar char="●"/>
            </a:pPr>
            <a:r>
              <a:rPr lang="en"/>
              <a:t>It includes the following elements:</a:t>
            </a:r>
            <a:endParaRPr/>
          </a:p>
          <a:p>
            <a:pPr indent="-311150" lvl="0" marL="457200" rtl="0" algn="l">
              <a:spcBef>
                <a:spcPts val="0"/>
              </a:spcBef>
              <a:spcAft>
                <a:spcPts val="0"/>
              </a:spcAft>
              <a:buSzPts val="1300"/>
              <a:buChar char="●"/>
            </a:pPr>
            <a:r>
              <a:rPr lang="en"/>
              <a:t>"Select Video" button to choose a video for analysis.</a:t>
            </a:r>
            <a:endParaRPr/>
          </a:p>
          <a:p>
            <a:pPr indent="-311150" lvl="0" marL="457200" rtl="0" algn="l">
              <a:spcBef>
                <a:spcPts val="0"/>
              </a:spcBef>
              <a:spcAft>
                <a:spcPts val="0"/>
              </a:spcAft>
              <a:buSzPts val="1300"/>
              <a:buChar char="●"/>
            </a:pPr>
            <a:r>
              <a:rPr lang="en"/>
              <a:t>"Submit" button to start processing the video.</a:t>
            </a:r>
            <a:endParaRPr/>
          </a:p>
          <a:p>
            <a:pPr indent="-311150" lvl="0" marL="457200" rtl="0" algn="l">
              <a:spcBef>
                <a:spcPts val="0"/>
              </a:spcBef>
              <a:spcAft>
                <a:spcPts val="0"/>
              </a:spcAft>
              <a:buSzPts val="1300"/>
              <a:buChar char="●"/>
            </a:pPr>
            <a:r>
              <a:rPr lang="en"/>
              <a:t>"Cancel" button to exit the application.</a:t>
            </a:r>
            <a:endParaRPr/>
          </a:p>
          <a:p>
            <a:pPr indent="0" lvl="0" marL="0" rtl="0" algn="l">
              <a:spcBef>
                <a:spcPts val="1200"/>
              </a:spcBef>
              <a:spcAft>
                <a:spcPts val="1200"/>
              </a:spcAft>
              <a:buNone/>
            </a:pPr>
            <a:r>
              <a:t/>
            </a:r>
            <a:endParaRPr/>
          </a:p>
        </p:txBody>
      </p:sp>
      <p:pic>
        <p:nvPicPr>
          <p:cNvPr id="96" name="Google Shape;96;p18"/>
          <p:cNvPicPr preferRelativeResize="0"/>
          <p:nvPr/>
        </p:nvPicPr>
        <p:blipFill>
          <a:blip r:embed="rId3">
            <a:alphaModFix/>
          </a:blip>
          <a:stretch>
            <a:fillRect/>
          </a:stretch>
        </p:blipFill>
        <p:spPr>
          <a:xfrm>
            <a:off x="525410" y="1489500"/>
            <a:ext cx="3166415" cy="2276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Tool Workflow</a:t>
            </a:r>
            <a:endParaRPr/>
          </a:p>
        </p:txBody>
      </p:sp>
      <p:sp>
        <p:nvSpPr>
          <p:cNvPr id="102" name="Google Shape;102;p19"/>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SzPts val="1300"/>
              <a:buChar char="●"/>
            </a:pPr>
            <a:r>
              <a:rPr lang="en"/>
              <a:t>Our tool follows a clear workflow:</a:t>
            </a:r>
            <a:endParaRPr/>
          </a:p>
          <a:p>
            <a:pPr indent="-311150" lvl="0" marL="457200" rtl="0" algn="l">
              <a:lnSpc>
                <a:spcPct val="150000"/>
              </a:lnSpc>
              <a:spcBef>
                <a:spcPts val="0"/>
              </a:spcBef>
              <a:spcAft>
                <a:spcPts val="0"/>
              </a:spcAft>
              <a:buSzPts val="1300"/>
              <a:buChar char="●"/>
            </a:pPr>
            <a:r>
              <a:rPr lang="en"/>
              <a:t>Step 1: Select a video for analysis.</a:t>
            </a:r>
            <a:endParaRPr/>
          </a:p>
          <a:p>
            <a:pPr indent="-311150" lvl="0" marL="457200" rtl="0" algn="l">
              <a:lnSpc>
                <a:spcPct val="150000"/>
              </a:lnSpc>
              <a:spcBef>
                <a:spcPts val="0"/>
              </a:spcBef>
              <a:spcAft>
                <a:spcPts val="0"/>
              </a:spcAft>
              <a:buSzPts val="1300"/>
              <a:buChar char="●"/>
            </a:pPr>
            <a:r>
              <a:rPr lang="en"/>
              <a:t>Step 2: Detect faces in the video frames.</a:t>
            </a:r>
            <a:endParaRPr/>
          </a:p>
          <a:p>
            <a:pPr indent="-311150" lvl="0" marL="457200" rtl="0" algn="l">
              <a:lnSpc>
                <a:spcPct val="150000"/>
              </a:lnSpc>
              <a:spcBef>
                <a:spcPts val="0"/>
              </a:spcBef>
              <a:spcAft>
                <a:spcPts val="0"/>
              </a:spcAft>
              <a:buSzPts val="1300"/>
              <a:buChar char="●"/>
            </a:pPr>
            <a:r>
              <a:rPr lang="en"/>
              <a:t>Step 3: Compare detected faces to known faces.</a:t>
            </a:r>
            <a:endParaRPr/>
          </a:p>
          <a:p>
            <a:pPr indent="-311150" lvl="0" marL="457200" rtl="0" algn="l">
              <a:lnSpc>
                <a:spcPct val="150000"/>
              </a:lnSpc>
              <a:spcBef>
                <a:spcPts val="0"/>
              </a:spcBef>
              <a:spcAft>
                <a:spcPts val="0"/>
              </a:spcAft>
              <a:buSzPts val="1300"/>
              <a:buChar char="●"/>
            </a:pPr>
            <a:r>
              <a:rPr lang="en"/>
              <a:t>Step 4: Generate a PDF report with matched faces and related text content.</a:t>
            </a:r>
            <a:endParaRPr/>
          </a:p>
          <a:p>
            <a:pPr indent="0" lvl="0" marL="457200" rtl="0" algn="l">
              <a:lnSpc>
                <a:spcPct val="150000"/>
              </a:lnSpc>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Face Detection</a:t>
            </a:r>
            <a:endParaRPr/>
          </a:p>
        </p:txBody>
      </p:sp>
      <p:sp>
        <p:nvSpPr>
          <p:cNvPr id="108" name="Google Shape;108;p20"/>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lnSpc>
                <a:spcPct val="100000"/>
              </a:lnSpc>
              <a:spcBef>
                <a:spcPts val="0"/>
              </a:spcBef>
              <a:spcAft>
                <a:spcPts val="0"/>
              </a:spcAft>
              <a:buSzPts val="1300"/>
              <a:buChar char="●"/>
            </a:pPr>
            <a:r>
              <a:rPr lang="en"/>
              <a:t>We utilize OpenCV for face detection.</a:t>
            </a:r>
            <a:endParaRPr/>
          </a:p>
          <a:p>
            <a:pPr indent="0" lvl="0" marL="0" rtl="0" algn="l">
              <a:lnSpc>
                <a:spcPct val="100000"/>
              </a:lnSpc>
              <a:spcBef>
                <a:spcPts val="1200"/>
              </a:spcBef>
              <a:spcAft>
                <a:spcPts val="0"/>
              </a:spcAft>
              <a:buNone/>
            </a:pPr>
            <a:r>
              <a:t/>
            </a:r>
            <a:endParaRPr/>
          </a:p>
          <a:p>
            <a:pPr indent="-311150" lvl="0" marL="457200" rtl="0" algn="l">
              <a:lnSpc>
                <a:spcPct val="100000"/>
              </a:lnSpc>
              <a:spcBef>
                <a:spcPts val="1200"/>
              </a:spcBef>
              <a:spcAft>
                <a:spcPts val="0"/>
              </a:spcAft>
              <a:buSzPts val="1300"/>
              <a:buChar char="●"/>
            </a:pPr>
            <a:r>
              <a:rPr lang="en"/>
              <a:t>It identifies faces within video frames using a pre-trained model.</a:t>
            </a:r>
            <a:endParaRPr/>
          </a:p>
          <a:p>
            <a:pPr indent="0" lvl="0" marL="457200" rtl="0" algn="l">
              <a:lnSpc>
                <a:spcPct val="100000"/>
              </a:lnSpc>
              <a:spcBef>
                <a:spcPts val="1200"/>
              </a:spcBef>
              <a:spcAft>
                <a:spcPts val="0"/>
              </a:spcAft>
              <a:buNone/>
            </a:pPr>
            <a:r>
              <a:t/>
            </a:r>
            <a:endParaRPr/>
          </a:p>
          <a:p>
            <a:pPr indent="-311150" lvl="0" marL="457200" rtl="0" algn="l">
              <a:lnSpc>
                <a:spcPct val="100000"/>
              </a:lnSpc>
              <a:spcBef>
                <a:spcPts val="1200"/>
              </a:spcBef>
              <a:spcAft>
                <a:spcPts val="0"/>
              </a:spcAft>
              <a:buSzPts val="1300"/>
              <a:buChar char="●"/>
            </a:pPr>
            <a:r>
              <a:rPr lang="en"/>
              <a:t>This initial step is crucial for subsequent recognition.</a:t>
            </a:r>
            <a:endParaRPr/>
          </a:p>
          <a:p>
            <a:pPr indent="0" lvl="0" marL="457200" rtl="0" algn="l">
              <a:lnSpc>
                <a:spcPct val="100000"/>
              </a:lnSpc>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Known Faces</a:t>
            </a:r>
            <a:endParaRPr/>
          </a:p>
        </p:txBody>
      </p:sp>
      <p:sp>
        <p:nvSpPr>
          <p:cNvPr id="114" name="Google Shape;114;p21"/>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SzPts val="1300"/>
              <a:buChar char="●"/>
            </a:pPr>
            <a:r>
              <a:rPr lang="en"/>
              <a:t>To recognize faces, we use a set of known faces.</a:t>
            </a:r>
            <a:endParaRPr/>
          </a:p>
          <a:p>
            <a:pPr indent="-311150" lvl="0" marL="457200" rtl="0" algn="l">
              <a:lnSpc>
                <a:spcPct val="150000"/>
              </a:lnSpc>
              <a:spcBef>
                <a:spcPts val="0"/>
              </a:spcBef>
              <a:spcAft>
                <a:spcPts val="0"/>
              </a:spcAft>
              <a:buSzPts val="1300"/>
              <a:buChar char="●"/>
            </a:pPr>
            <a:r>
              <a:rPr lang="en"/>
              <a:t>These known faces are provided as images and serve as reference points.</a:t>
            </a:r>
            <a:endParaRPr/>
          </a:p>
          <a:p>
            <a:pPr indent="-311150" lvl="0" marL="457200" rtl="0" algn="l">
              <a:lnSpc>
                <a:spcPct val="150000"/>
              </a:lnSpc>
              <a:spcBef>
                <a:spcPts val="0"/>
              </a:spcBef>
              <a:spcAft>
                <a:spcPts val="0"/>
              </a:spcAft>
              <a:buSzPts val="1300"/>
              <a:buChar char="●"/>
            </a:pPr>
            <a:r>
              <a:rPr lang="en"/>
              <a:t>The tool compares detected faces with these known faces for recognition.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PDF Report</a:t>
            </a:r>
            <a:endParaRPr/>
          </a:p>
        </p:txBody>
      </p:sp>
      <p:sp>
        <p:nvSpPr>
          <p:cNvPr id="120" name="Google Shape;120;p22"/>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SzPts val="1300"/>
              <a:buChar char="●"/>
            </a:pPr>
            <a:r>
              <a:rPr lang="en"/>
              <a:t>After processing the video, our tool generates a PDF report.</a:t>
            </a:r>
            <a:endParaRPr/>
          </a:p>
          <a:p>
            <a:pPr indent="-311150" lvl="0" marL="457200" rtl="0" algn="l">
              <a:lnSpc>
                <a:spcPct val="150000"/>
              </a:lnSpc>
              <a:spcBef>
                <a:spcPts val="0"/>
              </a:spcBef>
              <a:spcAft>
                <a:spcPts val="0"/>
              </a:spcAft>
              <a:buSzPts val="1300"/>
              <a:buChar char="●"/>
            </a:pPr>
            <a:r>
              <a:rPr lang="en"/>
              <a:t>The report includes matched faces and text content associated with those faces.</a:t>
            </a:r>
            <a:endParaRPr/>
          </a:p>
          <a:p>
            <a:pPr indent="-311150" lvl="0" marL="457200" rtl="0" algn="l">
              <a:lnSpc>
                <a:spcPct val="150000"/>
              </a:lnSpc>
              <a:spcBef>
                <a:spcPts val="0"/>
              </a:spcBef>
              <a:spcAft>
                <a:spcPts val="0"/>
              </a:spcAft>
              <a:buSzPts val="1300"/>
              <a:buChar char="●"/>
            </a:pPr>
            <a:r>
              <a:rPr lang="en"/>
              <a:t>It provides a comprehensive summary of the analysis.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Results:</a:t>
            </a:r>
            <a:endParaRPr/>
          </a:p>
        </p:txBody>
      </p:sp>
      <p:sp>
        <p:nvSpPr>
          <p:cNvPr id="126" name="Google Shape;126;p23"/>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SzPts val="1300"/>
              <a:buChar char="●"/>
            </a:pPr>
            <a:r>
              <a:rPr lang="en"/>
              <a:t>The tool yields valuable results, including:</a:t>
            </a:r>
            <a:endParaRPr/>
          </a:p>
          <a:p>
            <a:pPr indent="-311150" lvl="0" marL="457200" rtl="0" algn="l">
              <a:lnSpc>
                <a:spcPct val="150000"/>
              </a:lnSpc>
              <a:spcBef>
                <a:spcPts val="0"/>
              </a:spcBef>
              <a:spcAft>
                <a:spcPts val="0"/>
              </a:spcAft>
              <a:buSzPts val="1300"/>
              <a:buChar char="●"/>
            </a:pPr>
            <a:r>
              <a:rPr lang="en"/>
              <a:t>Number of frames captured and saved in the output directory.</a:t>
            </a:r>
            <a:endParaRPr/>
          </a:p>
          <a:p>
            <a:pPr indent="-311150" lvl="0" marL="457200" rtl="0" algn="l">
              <a:lnSpc>
                <a:spcPct val="150000"/>
              </a:lnSpc>
              <a:spcBef>
                <a:spcPts val="0"/>
              </a:spcBef>
              <a:spcAft>
                <a:spcPts val="0"/>
              </a:spcAft>
              <a:buSzPts val="1300"/>
              <a:buChar char="●"/>
            </a:pPr>
            <a:r>
              <a:rPr lang="en"/>
              <a:t>Count of faces detected and saved in the faces directory.</a:t>
            </a:r>
            <a:endParaRPr/>
          </a:p>
          <a:p>
            <a:pPr indent="-311150" lvl="0" marL="457200" rtl="0" algn="l">
              <a:lnSpc>
                <a:spcPct val="150000"/>
              </a:lnSpc>
              <a:spcBef>
                <a:spcPts val="0"/>
              </a:spcBef>
              <a:spcAft>
                <a:spcPts val="0"/>
              </a:spcAft>
              <a:buSzPts val="1300"/>
              <a:buChar char="●"/>
            </a:pPr>
            <a:r>
              <a:rPr lang="en"/>
              <a:t>Details about matched faces found during the analysis.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Saving the Report:</a:t>
            </a:r>
            <a:endParaRPr/>
          </a:p>
        </p:txBody>
      </p:sp>
      <p:sp>
        <p:nvSpPr>
          <p:cNvPr id="132" name="Google Shape;132;p2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Users have the option to save the generated PDF report to their preferred location.</a:t>
            </a:r>
            <a:endParaRPr/>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en"/>
              <a:t>This ensures that the analysis results are easily accessible for further study.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Demonstration:</a:t>
            </a:r>
            <a:endParaRPr/>
          </a:p>
        </p:txBody>
      </p:sp>
      <p:sp>
        <p:nvSpPr>
          <p:cNvPr id="138" name="Google Shape;138;p25"/>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Let's see the tool in action with a live demonstration using a sample video.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144" name="Google Shape;144;p26"/>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In conclusion, our Face Recognition Tool for Social Network Analysis is a valuable resource.</a:t>
            </a:r>
            <a:endParaRPr/>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en"/>
              <a:t>It simplifies the process of analyzing videos for faces and enhances the efficiency of social network analysis.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7"/>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Future Work</a:t>
            </a:r>
            <a:endParaRPr/>
          </a:p>
        </p:txBody>
      </p:sp>
      <p:sp>
        <p:nvSpPr>
          <p:cNvPr id="150" name="Google Shape;150;p27"/>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SzPts val="1300"/>
              <a:buChar char="●"/>
            </a:pPr>
            <a:r>
              <a:rPr lang="en"/>
              <a:t>As we look to the future, there is potential for further improvement and expansion of the tool.</a:t>
            </a:r>
            <a:endParaRPr/>
          </a:p>
          <a:p>
            <a:pPr indent="-311150" lvl="0" marL="457200" rtl="0" algn="l">
              <a:lnSpc>
                <a:spcPct val="150000"/>
              </a:lnSpc>
              <a:spcBef>
                <a:spcPts val="0"/>
              </a:spcBef>
              <a:spcAft>
                <a:spcPts val="0"/>
              </a:spcAft>
              <a:buSzPts val="1300"/>
              <a:buChar char="●"/>
            </a:pPr>
            <a:r>
              <a:rPr lang="en"/>
              <a:t>We welcome suggestions for additional features and enhancements.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8"/>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THANK YOU</a:t>
            </a:r>
            <a:endParaRPr/>
          </a:p>
        </p:txBody>
      </p:sp>
      <p:sp>
        <p:nvSpPr>
          <p:cNvPr id="156" name="Google Shape;156;p28"/>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